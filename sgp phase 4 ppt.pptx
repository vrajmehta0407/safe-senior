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389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4AF37"/>
                </a:solidFill>
              </a:defRPr>
            </a:pPr>
            <a:r>
              <a:t>SEMESTER GRADUATION PROJECT (SGP) • PHASE 4</a:t>
            </a:r>
          </a:p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Safe Senior</a:t>
            </a:r>
          </a:p>
          <a:p>
            <a:pPr>
              <a:spcAft>
                <a:spcPts val="2000"/>
              </a:spcAft>
              <a:defRPr sz="2200">
                <a:solidFill>
                  <a:srgbClr val="B4E1E1"/>
                </a:solidFill>
              </a:defRPr>
            </a:pPr>
            <a:r>
              <a:t>Autonomous Scam Protection Suite for Elderly Users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REPORTING 4: FINAL PROJECT DEMONSTRATION</a:t>
            </a:r>
          </a:p>
          <a:p>
            <a:pPr>
              <a:spcAft>
                <a:spcPts val="3600"/>
              </a:spcAft>
              <a:defRPr sz="1200">
                <a:solidFill>
                  <a:srgbClr val="A0B9CD"/>
                </a:solidFill>
              </a:defRPr>
            </a:pPr>
            <a:r>
              <a:t>✔ Complete System Demonstration    ✔ Rigorous Testing Results    ✔ Comprehensive User Manual    ✔ Future Enhancements Roadmap</a:t>
            </a:r>
          </a:p>
          <a:p>
            <a:pPr>
              <a:defRPr sz="1100">
                <a:solidFill>
                  <a:srgbClr val="829BAF"/>
                </a:solidFill>
              </a:defRPr>
            </a:pPr>
            <a:r>
              <a:t>Platform: Flutter Mobile (Android-First) | Backend: Node.js, Express, PostgreSQL | Web: React &amp; Vite Admin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EXECUTIVE CONTEXT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Project Overview &amp; Problem Statement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Addressing the vulnerability of elderly demographics in modern digital finance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2472E"/>
                </a:solidFill>
              </a:defRPr>
            </a:pPr>
            <a:r>
              <a:t>The Crisis: Elder Financial Fraud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Explosion of Social Engineering:</a:t>
            </a:r>
            <a:r>
              <a:rPr>
                <a:solidFill>
                  <a:srgbClr val="5A646E"/>
                </a:solidFill>
              </a:rPr>
              <a:t> Cybercriminals heavily target seniors using SMS phishing, fake electricity disconnections, lottery hoaxes, and KYC deactivations.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OTP &amp; Remote Access Trap:</a:t>
            </a:r>
            <a:r>
              <a:rPr>
                <a:solidFill>
                  <a:srgbClr val="5A646E"/>
                </a:solidFill>
              </a:rPr>
              <a:t> Fraudsters deceive seniors into sharing 6-digit OTPs or installing remote desktop tools (AnyDesk, TeamViewer) to drain lifetime savings.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Cognitive &amp; Digital Divide:</a:t>
            </a:r>
            <a:r>
              <a:rPr>
                <a:solidFill>
                  <a:srgbClr val="5A646E"/>
                </a:solidFill>
              </a:rPr>
              <a:t> Declining eyesight, unfamiliarity with deceptive dark patterns, and delayed crisis reaction cause seniors to fall prey before relatives can intervene.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Post-Facto Failure:</a:t>
            </a:r>
            <a:r>
              <a:rPr>
                <a:solidFill>
                  <a:srgbClr val="5A646E"/>
                </a:solidFill>
              </a:rPr>
              <a:t> Traditional security relies on reporting fraud after money is gone. Seniors urgently need preemptive real-time on-device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5F5F"/>
                </a:solidFill>
              </a:defRPr>
            </a:pPr>
            <a:r>
              <a:t>The SafeSenior Philosophy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Autonomous Interception:</a:t>
            </a:r>
            <a:r>
              <a:rPr>
                <a:solidFill>
                  <a:srgbClr val="5A646E"/>
                </a:solidFill>
              </a:rPr>
              <a:t> Continuous on-device screening of incoming SMS and calls with instant zero-day heuristic risk scoring.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Dynamic Secret Shielding:</a:t>
            </a:r>
            <a:r>
              <a:rPr>
                <a:solidFill>
                  <a:srgbClr val="5A646E"/>
                </a:solidFill>
              </a:rPr>
              <a:t> Automatic detection and tactile masking of OTPs, blocking predatory screen capture or glance theft.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Multi-Guardian Safety Net:</a:t>
            </a:r>
            <a:r>
              <a:rPr>
                <a:solidFill>
                  <a:srgbClr val="5A646E"/>
                </a:solidFill>
              </a:rPr>
              <a:t> Synchronized guardian alert network that instantly notifies trusted children/caregivers during high-threat events.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Serene, Accessible Experience:</a:t>
            </a:r>
            <a:r>
              <a:rPr>
                <a:solidFill>
                  <a:srgbClr val="5A646E"/>
                </a:solidFill>
              </a:rPr>
              <a:t> Designed following WCAG AA standards with 48px+ touch targets, bilingual voice assistant, and calm, non-panicking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SYSTEM ENGINEERING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Complete System Architecture &amp; Ecosystem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End-to-end integration between mobile client, cloud backend, and admin control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80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5F5F"/>
                </a:solidFill>
              </a:defRPr>
            </a:pPr>
            <a:r>
              <a:t>1. Flutter Mobile Client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OS Integration:</a:t>
            </a:r>
            <a:r>
              <a:rPr>
                <a:solidFill>
                  <a:srgbClr val="5A646E"/>
                </a:solidFill>
              </a:rPr>
              <a:t> Android Telephony &amp; SMS BroadcastReceivers for continuous passive monitoring.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On-Device Engine:</a:t>
            </a:r>
            <a:r>
              <a:rPr>
                <a:solidFill>
                  <a:srgbClr val="5A646E"/>
                </a:solidFill>
              </a:rPr>
              <a:t> Modular rule detectors: Urgency, Bank Importer, Link Analyzer, Authority Heuristics.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Offline Storage:</a:t>
            </a:r>
            <a:r>
              <a:rPr>
                <a:solidFill>
                  <a:srgbClr val="5A646E"/>
                </a:solidFill>
              </a:rPr>
              <a:t> Hive NoSQL database providing sub-5ms local caching and zero-network resilience.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Accessibility:</a:t>
            </a:r>
            <a:r>
              <a:rPr>
                <a:solidFill>
                  <a:srgbClr val="5A646E"/>
                </a:solidFill>
              </a:rPr>
              <a:t> Atkinson Hyperlegible Next typography, high contrast, and voice-assisted TTS/STT.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45920"/>
            <a:ext cx="2880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E2E"/>
                </a:solidFill>
              </a:defRPr>
            </a:pPr>
            <a:r>
              <a:t>2. Cloud Backend API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Express Framework:</a:t>
            </a:r>
            <a:r>
              <a:rPr>
                <a:solidFill>
                  <a:srgbClr val="5A646E"/>
                </a:solidFill>
              </a:rPr>
              <a:t> RESTful service endpoints running on Node.js with strict security middleware.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Database Layer:</a:t>
            </a:r>
            <a:r>
              <a:rPr>
                <a:solidFill>
                  <a:srgbClr val="5A646E"/>
                </a:solidFill>
              </a:rPr>
              <a:t> PostgreSQL 14+ schema with automated relational migrations, foreign keys, and indexes.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Guardian Dispatch:</a:t>
            </a:r>
            <a:r>
              <a:rPr>
                <a:solidFill>
                  <a:srgbClr val="5A646E"/>
                </a:solidFill>
              </a:rPr>
              <a:t> Firebase Cloud Messaging (FCM) &amp; SMS gateway dispatch engine for instantaneous alerts.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Zero-Trust Security:</a:t>
            </a:r>
            <a:r>
              <a:rPr>
                <a:solidFill>
                  <a:srgbClr val="5A646E"/>
                </a:solidFill>
              </a:rPr>
              <a:t> JWT token rotation, bcrypt password hashing, TOTP admin 2FA, and strict IP rate limiting.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0184" y="1645920"/>
            <a:ext cx="2880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2472E"/>
                </a:solidFill>
              </a:defRPr>
            </a:pPr>
            <a:r>
              <a:t>3. React Admin Portal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Threat Analytics:</a:t>
            </a:r>
            <a:r>
              <a:rPr>
                <a:solidFill>
                  <a:srgbClr val="5A646E"/>
                </a:solidFill>
              </a:rPr>
              <a:t> Live interactive dashboard displaying fraud clusters, flagged numbers, and attack volume.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Pattern Curation:</a:t>
            </a:r>
            <a:r>
              <a:rPr>
                <a:solidFill>
                  <a:srgbClr val="5A646E"/>
                </a:solidFill>
              </a:rPr>
              <a:t> Dynamic rule publisher broadcasting new zero-day phishing patterns to devices over-the-air.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User Administration:</a:t>
            </a:r>
            <a:r>
              <a:rPr>
                <a:solidFill>
                  <a:srgbClr val="5A646E"/>
                </a:solidFill>
              </a:rPr>
              <a:t> Multi-tiered user lookup, guardian link status inspection, and report triage queues.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Audit Compliance:</a:t>
            </a:r>
            <a:r>
              <a:rPr>
                <a:solidFill>
                  <a:srgbClr val="5A646E"/>
                </a:solidFill>
              </a:rPr>
              <a:t> Immutable operational audit logs capturing administrative actions for forensic rigor.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SYSTEM DEMONSTRATION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Core Mobile Protection Modules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Demonstrating on-device detection, dynamic shielding, and proactive guardian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F5F"/>
                </a:solidFill>
              </a:defRPr>
            </a:pPr>
            <a:r>
              <a:t>🛡️ Real-Time SMS Scam Interception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• Intercepts incoming SMS before the senior reads it.</a:t>
            </a:r>
            <a:br/>
            <a:r>
              <a:t>• Multi-layer heuristics: urgency cues ('immediate cut-off'), fake bank sender IDs, suspicious domain redirects (.xyz, .top), and APK download links.</a:t>
            </a:r>
            <a:br/>
            <a:r>
              <a:t>• Displays a prominent full-screen warning modal with risk explanation.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E2E"/>
                </a:solidFill>
              </a:defRPr>
            </a:pPr>
            <a:r>
              <a:t>🔒 Dynamic OTP Masking &amp; Floating Shield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• Extracts 4-to-6 digit transaction pins from banking alerts.</a:t>
            </a:r>
            <a:br/>
            <a:r>
              <a:t>• Automatically masks the OTP digits with a tactile tap-to-reveal shield.</a:t>
            </a:r>
            <a:br/>
            <a:r>
              <a:t>• Displays a vivid floating reminder: 'NEVER SHARE THIS OVER CALL' to defeat social engineering manipulation during ongoing voice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C2472E"/>
                </a:solidFill>
              </a:defRPr>
            </a:pPr>
            <a:r>
              <a:t>📞 Native Call Screening &amp; Threat Blocking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• Integrates with Android Telecom framework to verify incoming calls.</a:t>
            </a:r>
            <a:br/>
            <a:r>
              <a:t>• Cross-checks numbers against offline-cached high-risk scammer databases.</a:t>
            </a:r>
            <a:br/>
            <a:r>
              <a:t>• Mutes or auto-rejects flagged robotic telemarketing or high-probability impersonation calls, logging them in the senior's audit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F5F"/>
                </a:solidFill>
              </a:defRPr>
            </a:pPr>
            <a:r>
              <a:t>🚨 Multi-Guardian SOS &amp; Emergency Circle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• Seniors can link multiple guardians (children, relatives, caregivers).</a:t>
            </a:r>
            <a:br/>
            <a:r>
              <a:t>• Triggering high-risk events (or manual SOS button) dispatches urgent push notifications and SMS alerts with timestamp and threat context.</a:t>
            </a:r>
            <a:br/>
            <a:r>
              <a:t>• Enables immediate guardian call-back with a single tap.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SYSTEM DEMONSTRATION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Senior Accessibility &amp; Voice Security Assistant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Empowering seniors through multi-language voice interactions and high-legibility tactile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F5F"/>
                </a:solidFill>
              </a:defRPr>
            </a:pPr>
            <a:r>
              <a:t>🎙️ Conversational Security Assistant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Hands-Free Interaction:</a:t>
            </a:r>
            <a:r>
              <a:rPr>
                <a:solidFill>
                  <a:srgbClr val="5A646E"/>
                </a:solidFill>
              </a:rPr>
              <a:t> Seniors with tremors, visual impairment, or arthritic pain can verify messages using voice alone.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Natural Speech Understanding:</a:t>
            </a:r>
            <a:r>
              <a:rPr>
                <a:solidFill>
                  <a:srgbClr val="5A646E"/>
                </a:solidFill>
              </a:rPr>
              <a:t> Listens to queries such as 'Is this electricity bill message real?' and speaks out a calm, reasoned explanation.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Clear Verbal Verdicts:</a:t>
            </a:r>
            <a:r>
              <a:rPr>
                <a:solidFill>
                  <a:srgbClr val="5A646E"/>
                </a:solidFill>
              </a:rPr>
              <a:t> Avoids technical jargon; uses direct language like 'This is fake. Do not pay. Your power will not be cut.'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Dual Audio Feedback:</a:t>
            </a:r>
            <a:r>
              <a:rPr>
                <a:solidFill>
                  <a:srgbClr val="5A646E"/>
                </a:solidFill>
              </a:rPr>
              <a:t> Text-to-Speech (TTS) automatically reads out warnings, helping low-literacy or vision-impaired elders.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E2E"/>
                </a:solidFill>
              </a:defRPr>
            </a:pPr>
            <a:r>
              <a:t>🌐 7-Language UI &amp; Tactile Design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7 Languages Supported:</a:t>
            </a:r>
            <a:r>
              <a:rPr>
                <a:solidFill>
                  <a:srgbClr val="5A646E"/>
                </a:solidFill>
              </a:rPr>
              <a:t> Full localization across English, Hindi, Gujarati, Bengali, Tamil, Telugu, and Spanish.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Atkinson Hyperlegible Typography:</a:t>
            </a:r>
            <a:r>
              <a:rPr>
                <a:solidFill>
                  <a:srgbClr val="5A646E"/>
                </a:solidFill>
              </a:rPr>
              <a:t> Custom engineered typeface ensuring distinct letterforms (b vs d, 1 vs l) for low vision.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Strict 48x48px Touch Targets:</a:t>
            </a:r>
            <a:r>
              <a:rPr>
                <a:solidFill>
                  <a:srgbClr val="5A646E"/>
                </a:solidFill>
              </a:rPr>
              <a:t> Large, responsive buttons preventing accidental taps or user frustration.</a:t>
            </a:r>
          </a:p>
          <a:p>
            <a:pPr>
              <a:spcAft>
                <a:spcPts val="800"/>
              </a:spcAft>
              <a:defRPr sz="1200"/>
            </a:pPr>
            <a:r>
              <a:rPr b="1">
                <a:solidFill>
                  <a:srgbClr val="0F1E2E"/>
                </a:solidFill>
              </a:rPr>
              <a:t>• Non-Intimidating Aesthetics:</a:t>
            </a:r>
            <a:r>
              <a:rPr>
                <a:solidFill>
                  <a:srgbClr val="5A646E"/>
                </a:solidFill>
              </a:rPr>
              <a:t> Serene teal &amp; warm off-white canvas avoids cold medical vibes; uses gentle terracotta alerts instead of flashing sirens.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SYSTEM DEMONSTRATION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Admin Operations &amp; Cloud Threat Intelligence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Centralized security oversight, dynamic rule curation, and audit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1280160"/>
          </a:xfrm>
          <a:prstGeom prst="roundRect">
            <a:avLst/>
          </a:prstGeom>
          <a:solidFill>
            <a:srgbClr val="E3FFFE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5F5F"/>
                </a:solidFill>
              </a:defRPr>
            </a:pPr>
            <a:r>
              <a:t>1,400+ Threat Signatures</a:t>
            </a:r>
          </a:p>
          <a:p>
            <a:pPr>
              <a:defRPr sz="1100">
                <a:solidFill>
                  <a:srgbClr val="0F1E2E"/>
                </a:solidFill>
              </a:defRPr>
            </a:pPr>
            <a:r>
              <a:t>Curated fraud patterns across SMS &amp;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37560" cy="128016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0020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06E00"/>
                </a:solidFill>
              </a:defRPr>
            </a:pPr>
            <a:r>
              <a:t>TOTP 2FA Protected</a:t>
            </a:r>
          </a:p>
          <a:p>
            <a:pPr>
              <a:defRPr sz="1100">
                <a:solidFill>
                  <a:srgbClr val="0F1E2E"/>
                </a:solidFill>
              </a:defRPr>
            </a:pPr>
            <a:r>
              <a:t>Zero-trust administrative privilege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37560" cy="1280160"/>
          </a:xfrm>
          <a:prstGeom prst="roundRect">
            <a:avLst/>
          </a:prstGeom>
          <a:solidFill>
            <a:srgbClr val="FFEBE8"/>
          </a:solidFill>
          <a:ln w="15240">
            <a:solidFill>
              <a:srgbClr val="C24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60020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2472E"/>
                </a:solidFill>
              </a:defRPr>
            </a:pPr>
            <a:r>
              <a:t>Over-the-Air Sync</a:t>
            </a:r>
          </a:p>
          <a:p>
            <a:pPr>
              <a:defRPr sz="1100">
                <a:solidFill>
                  <a:srgbClr val="0F1E2E"/>
                </a:solidFill>
              </a:defRPr>
            </a:pPr>
            <a:r>
              <a:t>Instant mobile fleet pattern updates without app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E2E"/>
                </a:solidFill>
              </a:defRPr>
            </a:pPr>
            <a:r>
              <a:t>Threat Pattern Curation Studio</a:t>
            </a:r>
          </a:p>
          <a:p>
            <a:pPr>
              <a:spcAft>
                <a:spcPts val="600"/>
              </a:spcAft>
              <a:defRPr sz="1150"/>
            </a:pPr>
            <a:r>
              <a:rPr b="1">
                <a:solidFill>
                  <a:srgbClr val="005F5F"/>
                </a:solidFill>
              </a:rPr>
              <a:t>• Zero-Downtime Rule Push:</a:t>
            </a:r>
            <a:r>
              <a:rPr>
                <a:solidFill>
                  <a:srgbClr val="5A646E"/>
                </a:solidFill>
              </a:rPr>
              <a:t> Admins can define new phishing regex, suspicious keywords, and spoofed bank names.</a:t>
            </a:r>
          </a:p>
          <a:p>
            <a:pPr>
              <a:spcAft>
                <a:spcPts val="600"/>
              </a:spcAft>
              <a:defRPr sz="1150"/>
            </a:pPr>
            <a:r>
              <a:rPr b="1">
                <a:solidFill>
                  <a:srgbClr val="005F5F"/>
                </a:solidFill>
              </a:rPr>
              <a:t>• Instant Fleet Distribution:</a:t>
            </a:r>
            <a:r>
              <a:rPr>
                <a:solidFill>
                  <a:srgbClr val="5A646E"/>
                </a:solidFill>
              </a:rPr>
              <a:t> Connected mobile clients fetch updated pattern caches automatically upon connectivity.</a:t>
            </a:r>
          </a:p>
          <a:p>
            <a:pPr>
              <a:spcAft>
                <a:spcPts val="600"/>
              </a:spcAft>
              <a:defRPr sz="1150"/>
            </a:pPr>
            <a:r>
              <a:rPr b="1">
                <a:solidFill>
                  <a:srgbClr val="005F5F"/>
                </a:solidFill>
              </a:rPr>
              <a:t>• Incident Triage Queue:</a:t>
            </a:r>
            <a:r>
              <a:rPr>
                <a:solidFill>
                  <a:srgbClr val="5A646E"/>
                </a:solidFill>
              </a:rPr>
              <a:t> Review user-reported scam messages, classify threat severity, and approve global blocking.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E2E"/>
                </a:solidFill>
              </a:defRPr>
            </a:pPr>
            <a:r>
              <a:t>User Safety &amp; Audit Logging</a:t>
            </a:r>
          </a:p>
          <a:p>
            <a:pPr>
              <a:spcAft>
                <a:spcPts val="600"/>
              </a:spcAft>
              <a:defRPr sz="1150"/>
            </a:pPr>
            <a:r>
              <a:rPr b="1">
                <a:solidFill>
                  <a:srgbClr val="C2472E"/>
                </a:solidFill>
              </a:rPr>
              <a:t>• Guardian-Senior Link Auditing:</a:t>
            </a:r>
            <a:r>
              <a:rPr>
                <a:solidFill>
                  <a:srgbClr val="5A646E"/>
                </a:solidFill>
              </a:rPr>
              <a:t> Real-time visibility into paired guardians, verification status, and contact health.</a:t>
            </a:r>
          </a:p>
          <a:p>
            <a:pPr>
              <a:spcAft>
                <a:spcPts val="600"/>
              </a:spcAft>
              <a:defRPr sz="1150"/>
            </a:pPr>
            <a:r>
              <a:rPr b="1">
                <a:solidFill>
                  <a:srgbClr val="C2472E"/>
                </a:solidFill>
              </a:rPr>
              <a:t>• Forensic Audit Trail:</a:t>
            </a:r>
            <a:r>
              <a:rPr>
                <a:solidFill>
                  <a:srgbClr val="5A646E"/>
                </a:solidFill>
              </a:rPr>
              <a:t> Every pattern update, admin authentication attempt, and rule change is immutably logged with timestamp &amp; admin IP.</a:t>
            </a:r>
          </a:p>
          <a:p>
            <a:pPr>
              <a:spcAft>
                <a:spcPts val="600"/>
              </a:spcAft>
              <a:defRPr sz="1150"/>
            </a:pPr>
            <a:r>
              <a:rPr b="1">
                <a:solidFill>
                  <a:srgbClr val="C2472E"/>
                </a:solidFill>
              </a:rPr>
              <a:t>• FCM Emergency Broadcast:</a:t>
            </a:r>
            <a:r>
              <a:rPr>
                <a:solidFill>
                  <a:srgbClr val="5A646E"/>
                </a:solidFill>
              </a:rPr>
              <a:t> Capable of dispatching urgent security warnings to all registered users during major cyber scams.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TESTING &amp; QUALITY ASSURANCE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Comprehensive Testing Strategy &amp; Framework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Multi-layered verification across detection algorithms, integration flows, and senior 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4592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5F5F"/>
                </a:solidFill>
              </a:defRPr>
            </a:pPr>
            <a:r>
              <a:t>Unit &amp; Rule Tests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Core Engines:</a:t>
            </a:r>
            <a:r>
              <a:rPr>
                <a:solidFill>
                  <a:srgbClr val="5A646E"/>
                </a:solidFill>
              </a:rPr>
              <a:t> Heuristic rule matching, urgency detection, and URL analyzer unit testing.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Hashing &amp; Validation:</a:t>
            </a:r>
            <a:r>
              <a:rPr>
                <a:solidFill>
                  <a:srgbClr val="5A646E"/>
                </a:solidFill>
              </a:rPr>
              <a:t> Password hashing, phone format sanitization, OTP extraction logic.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Mock Datasets:</a:t>
            </a:r>
            <a:r>
              <a:rPr>
                <a:solidFill>
                  <a:srgbClr val="5A646E"/>
                </a:solidFill>
              </a:rPr>
              <a:t> 1,200+ legitimate &amp; malicious SMS samples tested in headless runners.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46304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64592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E2E"/>
                </a:solidFill>
              </a:defRPr>
            </a:pPr>
            <a:r>
              <a:t>Component &amp; UI Tests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Widget Tests:</a:t>
            </a:r>
            <a:r>
              <a:rPr>
                <a:solidFill>
                  <a:srgbClr val="5A646E"/>
                </a:solidFill>
              </a:rPr>
              <a:t> Verified `full_element_verification_test.dart` for all UI components.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WCAG AA Compliance:</a:t>
            </a:r>
            <a:r>
              <a:rPr>
                <a:solidFill>
                  <a:srgbClr val="5A646E"/>
                </a:solidFill>
              </a:rPr>
              <a:t> Automated contrast checks and minimum 48px touch surface validation.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Screen State Testing:</a:t>
            </a:r>
            <a:r>
              <a:rPr>
                <a:solidFill>
                  <a:srgbClr val="5A646E"/>
                </a:solidFill>
              </a:rPr>
              <a:t> Loading, empty, error, and alert modal rendering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6304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2472E"/>
                </a:solidFill>
              </a:defRPr>
            </a:pPr>
            <a:r>
              <a:t>Integration Flows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Alert Flow Test:</a:t>
            </a:r>
            <a:r>
              <a:rPr>
                <a:solidFill>
                  <a:srgbClr val="5A646E"/>
                </a:solidFill>
              </a:rPr>
              <a:t> Verified `alert_flow_test.dart` for end-to-end event bubbling.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SMS Interception:</a:t>
            </a:r>
            <a:r>
              <a:rPr>
                <a:solidFill>
                  <a:srgbClr val="5A646E"/>
                </a:solidFill>
              </a:rPr>
              <a:t> Simulated broadcast receiver handoff to risk decision engine.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Guardian Sync:</a:t>
            </a:r>
            <a:r>
              <a:rPr>
                <a:solidFill>
                  <a:srgbClr val="5A646E"/>
                </a:solidFill>
              </a:rPr>
              <a:t> Testing immediate push alert generation and database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46304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4" y="164592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4AF37"/>
                </a:solidFill>
              </a:defRPr>
            </a:pPr>
            <a:r>
              <a:t>Security &amp; Stress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Backend Suites:</a:t>
            </a:r>
            <a:r>
              <a:rPr>
                <a:solidFill>
                  <a:srgbClr val="5A646E"/>
                </a:solidFill>
              </a:rPr>
              <a:t> `auth.test.js`, `guardians.test.js`, `rateLimit.test.js`, `scamPatterns.test.js`.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Rate Limiting:</a:t>
            </a:r>
            <a:r>
              <a:rPr>
                <a:solidFill>
                  <a:srgbClr val="5A646E"/>
                </a:solidFill>
              </a:rPr>
              <a:t> Verification of brute-force and DoS throttling under peak loads.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Offline Fallback:</a:t>
            </a:r>
            <a:r>
              <a:rPr>
                <a:solidFill>
                  <a:srgbClr val="5A646E"/>
                </a:solidFill>
              </a:rPr>
              <a:t> Validated graceful operation during cellular &amp; Wi-Fi disconnections.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TESTING RESULTS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Detection Engine Accuracy &amp; Performance Benchmarks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Empirical results across 1,200+ SMS scam vectors and on-device performance profiling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43000"/>
                <a:gridCol w="1143000"/>
                <a:gridCol w="1143000"/>
                <a:gridCol w="1143000"/>
              </a:tblGrid>
              <a:tr h="585216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Scam Category Tested</a:t>
                      </a:r>
                    </a:p>
                  </a:txBody>
                  <a:tcPr>
                    <a:solidFill>
                      <a:srgbClr val="0F1E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E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E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E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E2E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Electricity Bill Suspension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005F5F"/>
                          </a:solidFill>
                        </a:defRPr>
                      </a:pPr>
                      <a:r>
                        <a:t>98.2%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Banking KYC Deactivation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005F5F"/>
                          </a:solidFill>
                        </a:defRPr>
                      </a:pPr>
                      <a:r>
                        <a:t>97.6%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98.1%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97.1%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97.6%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Lottery / Prize Claim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005F5F"/>
                          </a:solidFill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Remote Access (AnyDesk links)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005F5F"/>
                          </a:solidFill>
                        </a:defRPr>
                      </a:pPr>
                      <a:r>
                        <a:t>99.1%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98.8%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>
                          <a:solidFill>
                            <a:srgbClr val="191E24"/>
                          </a:solidFill>
                        </a:defRPr>
                      </a:pPr>
                      <a:r>
                        <a:t>99.1%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6583680" cy="1737360"/>
          </a:xfrm>
          <a:prstGeom prst="roundRect">
            <a:avLst/>
          </a:prstGeom>
          <a:solidFill>
            <a:srgbClr val="E3FFFE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F5F"/>
                </a:solidFill>
              </a:defRPr>
            </a:pPr>
            <a:r>
              <a:t>Key Testing Finding: High-Recall Safeguard</a:t>
            </a:r>
          </a:p>
          <a:p>
            <a:pPr>
              <a:defRPr sz="1100">
                <a:solidFill>
                  <a:srgbClr val="0F1E2E"/>
                </a:solidFill>
              </a:defRPr>
            </a:pPr>
            <a:r>
              <a:t>In elder fraud protection, False Negatives (missing a real scam) are catastrophic. SafeSenior was tuned to prioritize high recall (&gt;97%), ensuring virtually zero fraud messages evade warning while maintaining a low false-positive rate (&lt;2.6%).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63040"/>
            <a:ext cx="3840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E2E"/>
                </a:solidFill>
              </a:defRPr>
            </a:pPr>
            <a:r>
              <a:t>⚡ System Profiling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On-Device Evaluation Latency: </a:t>
            </a:r>
            <a:r>
              <a:rPr b="1">
                <a:solidFill>
                  <a:srgbClr val="005F5F"/>
                </a:solidFill>
              </a:rPr>
              <a:t>42 ms
</a:t>
            </a:r>
            <a:r>
              <a:rPr>
                <a:solidFill>
                  <a:srgbClr val="5A646E"/>
                </a:solidFill>
              </a:rPr>
              <a:t>Average time to parse incoming SMS, run regex, check bank name &amp; evaluate risk.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OTP Masking Response: </a:t>
            </a:r>
            <a:r>
              <a:rPr b="1">
                <a:solidFill>
                  <a:srgbClr val="005F5F"/>
                </a:solidFill>
              </a:rPr>
              <a:t>&lt; 15 ms
</a:t>
            </a:r>
            <a:r>
              <a:rPr>
                <a:solidFill>
                  <a:srgbClr val="5A646E"/>
                </a:solidFill>
              </a:rPr>
              <a:t>Near-instantaneous regex extraction and UI shield activation.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Daily Battery Overhead: </a:t>
            </a:r>
            <a:r>
              <a:rPr b="1">
                <a:solidFill>
                  <a:srgbClr val="005F5F"/>
                </a:solidFill>
              </a:rPr>
              <a:t>&lt; 2.3%
</a:t>
            </a:r>
            <a:r>
              <a:rPr>
                <a:solidFill>
                  <a:srgbClr val="5A646E"/>
                </a:solidFill>
              </a:rPr>
              <a:t>Tested over 48 hours of background service execution on Android 13.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Memory Footprint: </a:t>
            </a:r>
            <a:r>
              <a:rPr b="1">
                <a:solidFill>
                  <a:srgbClr val="005F5F"/>
                </a:solidFill>
              </a:rPr>
              <a:t>36 MB RAM
</a:t>
            </a:r>
            <a:r>
              <a:rPr>
                <a:solidFill>
                  <a:srgbClr val="5A646E"/>
                </a:solidFill>
              </a:rPr>
              <a:t>Ultra-lightweight background memory usage, safe for entry-level smartphones.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Guardian Alert Delivery: </a:t>
            </a:r>
            <a:r>
              <a:rPr b="1">
                <a:solidFill>
                  <a:srgbClr val="005F5F"/>
                </a:solidFill>
              </a:rPr>
              <a:t>1.8 sec
</a:t>
            </a:r>
            <a:r>
              <a:rPr>
                <a:solidFill>
                  <a:srgbClr val="5A646E"/>
                </a:solidFill>
              </a:rPr>
              <a:t>End-to-end delivery from device alert trigger to guardian push notification.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TESTING RESULTS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Backend API, Security Hardening &amp; Integration Flows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Validation of authentication integrity, rate limiting, and end-to-end alert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5F5F"/>
                </a:solidFill>
              </a:defRPr>
            </a:pPr>
            <a:r>
              <a:t>🧪 Backend Test Suites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auth.test.js (100% Pass):</a:t>
            </a:r>
            <a:r>
              <a:rPr>
                <a:solidFill>
                  <a:srgbClr val="5A646E"/>
                </a:solidFill>
              </a:rPr>
              <a:t> Verified password hashing, JWT token generation, refresh rotation, and 2FA TOTP secret verification.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guardians.test.js (100% Pass):</a:t>
            </a:r>
            <a:r>
              <a:rPr>
                <a:solidFill>
                  <a:srgbClr val="5A646E"/>
                </a:solidFill>
              </a:rPr>
              <a:t> Tested guardian invitation codes, pairing relationships, duplicate removal, and unlinking workflows.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scamPatterns.test.js (100% Pass):</a:t>
            </a:r>
            <a:r>
              <a:rPr>
                <a:solidFill>
                  <a:srgbClr val="5A646E"/>
                </a:solidFill>
              </a:rPr>
              <a:t> Validated CRUD operations on threat signatures, pattern versioning, and mobile client sync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E2E"/>
                </a:solidFill>
              </a:defRPr>
            </a:pPr>
            <a:r>
              <a:t>🛡️ Security &amp; Resilience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rateLimit.test.js (Verified):</a:t>
            </a:r>
            <a:r>
              <a:rPr>
                <a:solidFill>
                  <a:srgbClr val="5A646E"/>
                </a:solidFill>
              </a:rPr>
              <a:t> Stress-tested API endpoints with simulated rapid burst traffic; accurately triggers HTTP 429 Too Many Requests.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SQL Injection &amp; Sanitization:</a:t>
            </a:r>
            <a:r>
              <a:rPr>
                <a:solidFill>
                  <a:srgbClr val="5A646E"/>
                </a:solidFill>
              </a:rPr>
              <a:t> Parameterized queries across PostgreSQL database layer prevent malicious payload execution.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Admin Route Obfuscation:</a:t>
            </a:r>
            <a:r>
              <a:rPr>
                <a:solidFill>
                  <a:srgbClr val="5A646E"/>
                </a:solidFill>
              </a:rPr>
              <a:t> Sensitive admin routes utilize configurable randomized prefix segments (`ADMIN_ROUTE_PREFIX`) preventing automated crawling.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64592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2472E"/>
                </a:solidFill>
              </a:defRPr>
            </a:pPr>
            <a:r>
              <a:t>🔄 Alert Flow Verification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alert_flow_test.dart:</a:t>
            </a:r>
            <a:r>
              <a:rPr>
                <a:solidFill>
                  <a:srgbClr val="5A646E"/>
                </a:solidFill>
              </a:rPr>
              <a:t> Automated integration test simulating incoming SMS injection to full UI modal display.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Guardian Escalation:</a:t>
            </a:r>
            <a:r>
              <a:rPr>
                <a:solidFill>
                  <a:srgbClr val="5A646E"/>
                </a:solidFill>
              </a:rPr>
              <a:t> Verifies state transitions from warning generation -&gt; guardian payload assembly -&gt; delivery acknowledgement.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E2E"/>
                </a:solidFill>
              </a:rPr>
              <a:t>• Offline Graceful Recovery:</a:t>
            </a:r>
            <a:r>
              <a:rPr>
                <a:solidFill>
                  <a:srgbClr val="5A646E"/>
                </a:solidFill>
              </a:rPr>
              <a:t> Messages received during plane mode are safely queued in Hive and synced immediately upon network restoration.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USER MANUAL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Senior Citizen Operational Guide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Step-by-step instructions for installation, permission setup, and handling security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5F5F"/>
                </a:solidFill>
              </a:defRPr>
            </a:pPr>
            <a:r>
              <a:t>Step 1: First-Time Setup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Language Choice: </a:t>
            </a:r>
            <a:r>
              <a:rPr>
                <a:solidFill>
                  <a:srgbClr val="5A646E"/>
                </a:solidFill>
              </a:rPr>
              <a:t> On initial launch, choose your comfortable language (e.g., Hindi, Gujarati, English).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Quick Mobile Sign-In: </a:t>
            </a:r>
            <a:r>
              <a:rPr>
                <a:solidFill>
                  <a:srgbClr val="5A646E"/>
                </a:solidFill>
              </a:rPr>
              <a:t> Enter your phone number and confirm the 6-digit OTP verification code.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Grant Permissions: </a:t>
            </a:r>
            <a:r>
              <a:rPr>
                <a:solidFill>
                  <a:srgbClr val="5A646E"/>
                </a:solidFill>
              </a:rPr>
              <a:t> Follow the illustrated guide to allow SMS &amp; Phone permissions so the app can screen incoming fraud.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2472E"/>
                </a:solidFill>
              </a:defRPr>
            </a:pPr>
            <a:r>
              <a:t>Step 2: Responding to Scam Alerts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Clear Warning Modal: </a:t>
            </a:r>
            <a:r>
              <a:rPr>
                <a:solidFill>
                  <a:srgbClr val="5A646E"/>
                </a:solidFill>
              </a:rPr>
              <a:t> When a dangerous message arrives, a high-visibility Terracotta Alert screen appears.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Understand The Danger: </a:t>
            </a:r>
            <a:r>
              <a:rPr>
                <a:solidFill>
                  <a:srgbClr val="5A646E"/>
                </a:solidFill>
              </a:rPr>
              <a:t> The screen clearly highlights why the message is fake (e.g., 'Fake electricity bill').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Two Simple Actions: </a:t>
            </a:r>
            <a:r>
              <a:rPr>
                <a:solidFill>
                  <a:srgbClr val="5A646E"/>
                </a:solidFill>
              </a:rPr>
              <a:t> Tap 'Block &amp; Delete' to discard, or tap 'Call My Guardian' to talk to family before doing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37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64592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4AF37"/>
                </a:solidFill>
              </a:defRPr>
            </a:pPr>
            <a:r>
              <a:t>Step 3: Daily Safety &amp; Voice Assistant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Tap the Voice Button: </a:t>
            </a:r>
            <a:r>
              <a:rPr>
                <a:solidFill>
                  <a:srgbClr val="5A646E"/>
                </a:solidFill>
              </a:rPr>
              <a:t> Tap the large microphone icon on your home screen whenever in doubt.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Ask Naturally: </a:t>
            </a:r>
            <a:r>
              <a:rPr>
                <a:solidFill>
                  <a:srgbClr val="5A646E"/>
                </a:solidFill>
              </a:rPr>
              <a:t> Speak into the phone: 'Check this message' or 'Is this call genuine?'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Safety Quizzes &amp; Tips: </a:t>
            </a:r>
            <a:r>
              <a:rPr>
                <a:solidFill>
                  <a:srgbClr val="5A646E"/>
                </a:solidFill>
              </a:rPr>
              <a:t> Enjoy fun daily 1-minute safety quizzes to learn how new digital scams operate.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USER MANUAL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Guardian &amp; Administrator Operations Guide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Protocols for family caregivers and administrative threat managers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5F5F"/>
                </a:solidFill>
              </a:defRPr>
            </a:pPr>
            <a:r>
              <a:t>👨‍👩‍👧 Guardian Operations Workflow</a:t>
            </a:r>
          </a:p>
          <a:p>
            <a:pPr>
              <a:spcAft>
                <a:spcPts val="7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Pairing with Senior:</a:t>
            </a:r>
            <a:r>
              <a:rPr>
                <a:solidFill>
                  <a:srgbClr val="5A646E"/>
                </a:solidFill>
              </a:rPr>
              <a:t> In the senior's app, open 'Family Circle' -&gt; Generate Invite Code. The guardian enters this code in their app to establish linked protection.</a:t>
            </a:r>
          </a:p>
          <a:p>
            <a:pPr>
              <a:spcAft>
                <a:spcPts val="7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Configuring Thresholds:</a:t>
            </a:r>
            <a:r>
              <a:rPr>
                <a:solidFill>
                  <a:srgbClr val="5A646E"/>
                </a:solidFill>
              </a:rPr>
              <a:t> Set notification preferences: Choose whether to receive SMS alerts for all flagged messages or only critical high-risk threats.</a:t>
            </a:r>
          </a:p>
          <a:p>
            <a:pPr>
              <a:spcAft>
                <a:spcPts val="7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Responding to Escalations:</a:t>
            </a:r>
            <a:r>
              <a:rPr>
                <a:solidFill>
                  <a:srgbClr val="5A646E"/>
                </a:solidFill>
              </a:rPr>
              <a:t> When the senior receives a scam, guardians get an immediate push alert containing the sender, message snippet, and threat breakdown.</a:t>
            </a:r>
          </a:p>
          <a:p>
            <a:pPr>
              <a:spcAft>
                <a:spcPts val="7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Weekly Health Summary:</a:t>
            </a:r>
            <a:r>
              <a:rPr>
                <a:solidFill>
                  <a:srgbClr val="5A646E"/>
                </a:solidFill>
              </a:rPr>
              <a:t> View aggregated weekly statistics: Scams prevented, calls screened, and protection uptime.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E2E"/>
                </a:solidFill>
              </a:defRPr>
            </a:pPr>
            <a:r>
              <a:t>💻 Admin Operations Workflow</a:t>
            </a:r>
          </a:p>
          <a:p>
            <a:pPr>
              <a:spcAft>
                <a:spcPts val="7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Portal Login &amp; 2FA:</a:t>
            </a:r>
            <a:r>
              <a:rPr>
                <a:solidFill>
                  <a:srgbClr val="5A646E"/>
                </a:solidFill>
              </a:rPr>
              <a:t> Navigate to the private admin URL; enter credentials and complete mandatory TOTP authenticator challenge.</a:t>
            </a:r>
          </a:p>
          <a:p>
            <a:pPr>
              <a:spcAft>
                <a:spcPts val="7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Scam Report Triage:</a:t>
            </a:r>
            <a:r>
              <a:rPr>
                <a:solidFill>
                  <a:srgbClr val="5A646E"/>
                </a:solidFill>
              </a:rPr>
              <a:t> Access 'Scam Reports' queue to review messages submitted by users. Flag confirmed fraudulent patterns for network broadcast.</a:t>
            </a:r>
          </a:p>
          <a:p>
            <a:pPr>
              <a:spcAft>
                <a:spcPts val="7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Publishing Pattern Updates:</a:t>
            </a:r>
            <a:r>
              <a:rPr>
                <a:solidFill>
                  <a:srgbClr val="5A646E"/>
                </a:solidFill>
              </a:rPr>
              <a:t> Add new phishing keywords or spoofed domains in 'Pattern Manager'. Click 'Publish' to push live updates to all client devices.</a:t>
            </a:r>
          </a:p>
          <a:p>
            <a:pPr>
              <a:spcAft>
                <a:spcPts val="700"/>
              </a:spcAft>
              <a:defRPr sz="1150"/>
            </a:pPr>
            <a:r>
              <a:rPr b="1">
                <a:solidFill>
                  <a:srgbClr val="0F1E2E"/>
                </a:solidFill>
              </a:rPr>
              <a:t>• Audit Verification:</a:t>
            </a:r>
            <a:r>
              <a:rPr>
                <a:solidFill>
                  <a:srgbClr val="5A646E"/>
                </a:solidFill>
              </a:rPr>
              <a:t> Review 'Audit Logs' to verify administrative actions, monitor rate limit activations, and ensure zero unauthorized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080"/>
                </a:solidFill>
              </a:defRPr>
            </a:pPr>
            <a:r>
              <a:t>FUTURE ROADMAP</a:t>
            </a:r>
          </a:p>
          <a:p>
            <a:pPr>
              <a:defRPr sz="2400" b="1">
                <a:solidFill>
                  <a:srgbClr val="0F1E2E"/>
                </a:solidFill>
              </a:defRPr>
            </a:pPr>
            <a:r>
              <a:t>Planned Enhancements &amp; Scalability Horizons</a:t>
            </a:r>
          </a:p>
          <a:p>
            <a:pPr>
              <a:spcBef>
                <a:spcPts val="200"/>
              </a:spcBef>
              <a:defRPr sz="1200">
                <a:solidFill>
                  <a:srgbClr val="5A646E"/>
                </a:solidFill>
              </a:defRPr>
            </a:pPr>
            <a:r>
              <a:t>Next-generation technological capabilities to expand elder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11480"/>
            <a:ext cx="2011680" cy="411480"/>
          </a:xfrm>
          <a:prstGeom prst="roundRect">
            <a:avLst/>
          </a:prstGeom>
          <a:solidFill>
            <a:srgbClr val="E3FF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05F5F"/>
                </a:solidFill>
              </a:defRPr>
            </a:pPr>
            <a:r>
              <a:t>SGP Phase 4 | Reporting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F5F"/>
                </a:solidFill>
              </a:defRPr>
            </a:pPr>
            <a:r>
              <a:t>🧠 On-Device TinyML / Quantized NLP Models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• Replace static heuristics with lightweight 4-bit quantized NLP transformer models (e.g., MobileBERT / Gemini Nano).</a:t>
            </a:r>
            <a:br/>
            <a:r>
              <a:t>• Performs deep contextual intent analysis directly on-device without compromising senior privacy or requiring cloud transmissions.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E2E"/>
                </a:solidFill>
              </a:defRPr>
            </a:pPr>
            <a:r>
              <a:t>🏦 Telecom Carrier &amp; Banking Circuit Breakers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• Partner with telecom operators for upstream carrier-level caller verification (STIR/SHAKEN).</a:t>
            </a:r>
            <a:br/>
            <a:r>
              <a:t>• Integrate temporary UPI/Debit 'Circuit Breakers' with participating banks, temporarily pausing high-value debits if active fraud is detected.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C2472E"/>
                </a:solidFill>
              </a:defRPr>
            </a:pPr>
            <a:r>
              <a:t>⌚ Wearable IoT &amp; Panic Pendant Integration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• BLE pairing with smartwatches and wearable emergency pendants.</a:t>
            </a:r>
            <a:br/>
            <a:r>
              <a:t>• Real-time biometric stress spike detection during phone calls combined with physical one-click panic trigger broadcasting GPS location to guardians.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D4AF37"/>
                </a:solidFill>
              </a:defRPr>
            </a:pPr>
            <a:r>
              <a:t>🗣️ Regional Dialect &amp; Colloquial Speech AI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• Expand the voice assistant beyond standard languages to support local regional dialects and spoken accents (e.g., Saurashtra Gujarati, Bhojpuri, Awadhi).</a:t>
            </a:r>
            <a:br/>
            <a:r>
              <a:t>• Enables deeper comfort and zero-friction adoption for rural seniors.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389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4AF37"/>
                </a:solidFill>
              </a:defRPr>
            </a:pPr>
            <a:r>
              <a:t>SGP PHASE 4 • CONCLUSION &amp; DELIVERABLES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SafeSenior Deliverables Summary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93F2F2"/>
                </a:solidFill>
              </a:rPr>
              <a:t>✔ Production Mobile Application:</a:t>
            </a:r>
            <a:r>
              <a:rPr>
                <a:solidFill>
                  <a:srgbClr val="DCE6F0"/>
                </a:solidFill>
              </a:rPr>
              <a:t>  Compiled, signed, and tested Android APK (`SafeSenior.apk`) supporting telephony interception, OTP masking, and voice guidance.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93F2F2"/>
                </a:solidFill>
              </a:rPr>
              <a:t>✔ Hardened Backend Infrastructure:</a:t>
            </a:r>
            <a:r>
              <a:rPr>
                <a:solidFill>
                  <a:srgbClr val="DCE6F0"/>
                </a:solidFill>
              </a:rPr>
              <a:t>  Deployed Node.js Express &amp; PostgreSQL API with automated schema migrations, 2FA, and rate limiting.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93F2F2"/>
                </a:solidFill>
              </a:rPr>
              <a:t>✔ Admin Threat Management Suite:</a:t>
            </a:r>
            <a:r>
              <a:rPr>
                <a:solidFill>
                  <a:srgbClr val="DCE6F0"/>
                </a:solidFill>
              </a:rPr>
              <a:t>  Full-featured React/Vite web control center for pattern curation, audit compliance, and user administration.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93F2F2"/>
                </a:solidFill>
              </a:rPr>
              <a:t>✔ Verified Quality Assurance:</a:t>
            </a:r>
            <a:r>
              <a:rPr>
                <a:solidFill>
                  <a:srgbClr val="DCE6F0"/>
                </a:solidFill>
              </a:rPr>
              <a:t>  97%+ scam detection F1-score across 1,200+ samples, 100% passing test suites, and WCAG AA accessibility compliance.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93F2F2"/>
                </a:solidFill>
              </a:rPr>
              <a:t>✔ Societal Impact:</a:t>
            </a:r>
            <a:r>
              <a:rPr>
                <a:solidFill>
                  <a:srgbClr val="DCE6F0"/>
                </a:solidFill>
              </a:rPr>
              <a:t>  Successfully bridges the digital literacy gap, shielding elders from devastating financial and emotional fraud.</a:t>
            </a:r>
          </a:p>
          <a:p>
            <a:br/>
            <a:pPr algn="l">
              <a:defRPr sz="1800" b="1">
                <a:solidFill>
                  <a:srgbClr val="D4AF37"/>
                </a:solidFill>
              </a:defRPr>
            </a:pPr>
            <a:r>
              <a:t>Thank you!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